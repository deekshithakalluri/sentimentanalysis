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FC1005-3C4C-4706-8FA8-DCB38954787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8852C5-4448-44D0-AE36-4420221F421B}">
      <dgm:prSet/>
      <dgm:spPr/>
      <dgm:t>
        <a:bodyPr/>
        <a:lstStyle/>
        <a:p>
          <a:r>
            <a:rPr lang="en-US" b="0" i="0" baseline="0"/>
            <a:t>Classical ML models work well on small, cleaned data</a:t>
          </a:r>
          <a:endParaRPr lang="en-US"/>
        </a:p>
      </dgm:t>
    </dgm:pt>
    <dgm:pt modelId="{4FD291F7-3885-4E0A-9412-4C36B68ACAEE}" type="parTrans" cxnId="{53A698CC-8867-4C43-94DD-47598C7D6FEC}">
      <dgm:prSet/>
      <dgm:spPr/>
      <dgm:t>
        <a:bodyPr/>
        <a:lstStyle/>
        <a:p>
          <a:endParaRPr lang="en-US"/>
        </a:p>
      </dgm:t>
    </dgm:pt>
    <dgm:pt modelId="{8EBBF2C5-0C0F-4322-B6B7-728B10EB12C0}" type="sibTrans" cxnId="{53A698CC-8867-4C43-94DD-47598C7D6FEC}">
      <dgm:prSet/>
      <dgm:spPr/>
      <dgm:t>
        <a:bodyPr/>
        <a:lstStyle/>
        <a:p>
          <a:endParaRPr lang="en-US"/>
        </a:p>
      </dgm:t>
    </dgm:pt>
    <dgm:pt modelId="{3D3DBAE8-7CEF-4E75-82AC-BAE4BB9785AC}">
      <dgm:prSet/>
      <dgm:spPr/>
      <dgm:t>
        <a:bodyPr/>
        <a:lstStyle/>
        <a:p>
          <a:r>
            <a:rPr lang="en-US" b="0" i="0" baseline="0"/>
            <a:t>LSTM needs more data and epochs</a:t>
          </a:r>
          <a:endParaRPr lang="en-US"/>
        </a:p>
      </dgm:t>
    </dgm:pt>
    <dgm:pt modelId="{E02F5712-B0E5-41E1-A086-00A8FC1A8832}" type="parTrans" cxnId="{0884B7B9-D795-4905-A15B-74E08D911D6D}">
      <dgm:prSet/>
      <dgm:spPr/>
      <dgm:t>
        <a:bodyPr/>
        <a:lstStyle/>
        <a:p>
          <a:endParaRPr lang="en-US"/>
        </a:p>
      </dgm:t>
    </dgm:pt>
    <dgm:pt modelId="{D39617BB-ED81-4FC9-B3EB-E27E3AFC90B5}" type="sibTrans" cxnId="{0884B7B9-D795-4905-A15B-74E08D911D6D}">
      <dgm:prSet/>
      <dgm:spPr/>
      <dgm:t>
        <a:bodyPr/>
        <a:lstStyle/>
        <a:p>
          <a:endParaRPr lang="en-US"/>
        </a:p>
      </dgm:t>
    </dgm:pt>
    <dgm:pt modelId="{DF365A89-721F-4155-94E1-00EB18D4FEA0}">
      <dgm:prSet/>
      <dgm:spPr/>
      <dgm:t>
        <a:bodyPr/>
        <a:lstStyle/>
        <a:p>
          <a:r>
            <a:rPr lang="en-US" b="0" i="0" baseline="0"/>
            <a:t>BERT shows potential but over-predicts one class</a:t>
          </a:r>
          <a:endParaRPr lang="en-US"/>
        </a:p>
      </dgm:t>
    </dgm:pt>
    <dgm:pt modelId="{17B6A559-1A6E-4EB3-8BE5-D1521DEF5575}" type="parTrans" cxnId="{2E8B62AE-B5E4-4250-80B4-72795ABF0311}">
      <dgm:prSet/>
      <dgm:spPr/>
      <dgm:t>
        <a:bodyPr/>
        <a:lstStyle/>
        <a:p>
          <a:endParaRPr lang="en-US"/>
        </a:p>
      </dgm:t>
    </dgm:pt>
    <dgm:pt modelId="{CCF94C4F-6C37-42FA-821E-F0689C391102}" type="sibTrans" cxnId="{2E8B62AE-B5E4-4250-80B4-72795ABF0311}">
      <dgm:prSet/>
      <dgm:spPr/>
      <dgm:t>
        <a:bodyPr/>
        <a:lstStyle/>
        <a:p>
          <a:endParaRPr lang="en-US"/>
        </a:p>
      </dgm:t>
    </dgm:pt>
    <dgm:pt modelId="{51E16086-E927-454C-A4BE-E39706A957BC}">
      <dgm:prSet/>
      <dgm:spPr/>
      <dgm:t>
        <a:bodyPr/>
        <a:lstStyle/>
        <a:p>
          <a:r>
            <a:rPr lang="en-US" b="0" i="0" baseline="0"/>
            <a:t>Trade-offs between training time and generalization</a:t>
          </a:r>
          <a:endParaRPr lang="en-US"/>
        </a:p>
      </dgm:t>
    </dgm:pt>
    <dgm:pt modelId="{59E656A3-1743-42F1-86C5-AC7A18484E25}" type="parTrans" cxnId="{4D6A41FC-1680-4440-A151-94EF8E47072B}">
      <dgm:prSet/>
      <dgm:spPr/>
      <dgm:t>
        <a:bodyPr/>
        <a:lstStyle/>
        <a:p>
          <a:endParaRPr lang="en-US"/>
        </a:p>
      </dgm:t>
    </dgm:pt>
    <dgm:pt modelId="{0CB05147-B8D6-4575-8B74-B2558BD74687}" type="sibTrans" cxnId="{4D6A41FC-1680-4440-A151-94EF8E47072B}">
      <dgm:prSet/>
      <dgm:spPr/>
      <dgm:t>
        <a:bodyPr/>
        <a:lstStyle/>
        <a:p>
          <a:endParaRPr lang="en-US"/>
        </a:p>
      </dgm:t>
    </dgm:pt>
    <dgm:pt modelId="{BB29789A-166D-4741-AD55-B25C5AC4F25A}" type="pres">
      <dgm:prSet presAssocID="{C0FC1005-3C4C-4706-8FA8-DCB389547878}" presName="linear" presStyleCnt="0">
        <dgm:presLayoutVars>
          <dgm:animLvl val="lvl"/>
          <dgm:resizeHandles val="exact"/>
        </dgm:presLayoutVars>
      </dgm:prSet>
      <dgm:spPr/>
    </dgm:pt>
    <dgm:pt modelId="{FCD744F5-C7BC-481B-90D4-DF78849742D5}" type="pres">
      <dgm:prSet presAssocID="{D58852C5-4448-44D0-AE36-4420221F42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72C4EB-7AE6-41B8-8867-5C175BDA782B}" type="pres">
      <dgm:prSet presAssocID="{8EBBF2C5-0C0F-4322-B6B7-728B10EB12C0}" presName="spacer" presStyleCnt="0"/>
      <dgm:spPr/>
    </dgm:pt>
    <dgm:pt modelId="{9395465D-62F8-48F6-9A80-0A718D39EC72}" type="pres">
      <dgm:prSet presAssocID="{3D3DBAE8-7CEF-4E75-82AC-BAE4BB9785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E2BE66-DAF0-4697-AAD2-FB29C3598DE3}" type="pres">
      <dgm:prSet presAssocID="{D39617BB-ED81-4FC9-B3EB-E27E3AFC90B5}" presName="spacer" presStyleCnt="0"/>
      <dgm:spPr/>
    </dgm:pt>
    <dgm:pt modelId="{4FAA1452-5592-42AC-B1B5-766FBC9F8F57}" type="pres">
      <dgm:prSet presAssocID="{DF365A89-721F-4155-94E1-00EB18D4FE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6842FE-5B18-4668-A067-DB9F9564CA25}" type="pres">
      <dgm:prSet presAssocID="{CCF94C4F-6C37-42FA-821E-F0689C391102}" presName="spacer" presStyleCnt="0"/>
      <dgm:spPr/>
    </dgm:pt>
    <dgm:pt modelId="{8FDC06E9-EBC8-4281-91A0-7CF05EDE8DDE}" type="pres">
      <dgm:prSet presAssocID="{51E16086-E927-454C-A4BE-E39706A957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4EFCD36-9FE5-4E04-9A43-392B18514461}" type="presOf" srcId="{DF365A89-721F-4155-94E1-00EB18D4FEA0}" destId="{4FAA1452-5592-42AC-B1B5-766FBC9F8F57}" srcOrd="0" destOrd="0" presId="urn:microsoft.com/office/officeart/2005/8/layout/vList2"/>
    <dgm:cxn modelId="{CAE5D950-E1DC-43FD-B558-B0FA4330F11A}" type="presOf" srcId="{D58852C5-4448-44D0-AE36-4420221F421B}" destId="{FCD744F5-C7BC-481B-90D4-DF78849742D5}" srcOrd="0" destOrd="0" presId="urn:microsoft.com/office/officeart/2005/8/layout/vList2"/>
    <dgm:cxn modelId="{FFE08A7A-FC35-48F9-9A33-84C7E39AA3E8}" type="presOf" srcId="{51E16086-E927-454C-A4BE-E39706A957BC}" destId="{8FDC06E9-EBC8-4281-91A0-7CF05EDE8DDE}" srcOrd="0" destOrd="0" presId="urn:microsoft.com/office/officeart/2005/8/layout/vList2"/>
    <dgm:cxn modelId="{18EAAE86-B6E5-4DA3-A6D5-4DB4E0A7F384}" type="presOf" srcId="{3D3DBAE8-7CEF-4E75-82AC-BAE4BB9785AC}" destId="{9395465D-62F8-48F6-9A80-0A718D39EC72}" srcOrd="0" destOrd="0" presId="urn:microsoft.com/office/officeart/2005/8/layout/vList2"/>
    <dgm:cxn modelId="{2E8B62AE-B5E4-4250-80B4-72795ABF0311}" srcId="{C0FC1005-3C4C-4706-8FA8-DCB389547878}" destId="{DF365A89-721F-4155-94E1-00EB18D4FEA0}" srcOrd="2" destOrd="0" parTransId="{17B6A559-1A6E-4EB3-8BE5-D1521DEF5575}" sibTransId="{CCF94C4F-6C37-42FA-821E-F0689C391102}"/>
    <dgm:cxn modelId="{0884B7B9-D795-4905-A15B-74E08D911D6D}" srcId="{C0FC1005-3C4C-4706-8FA8-DCB389547878}" destId="{3D3DBAE8-7CEF-4E75-82AC-BAE4BB9785AC}" srcOrd="1" destOrd="0" parTransId="{E02F5712-B0E5-41E1-A086-00A8FC1A8832}" sibTransId="{D39617BB-ED81-4FC9-B3EB-E27E3AFC90B5}"/>
    <dgm:cxn modelId="{53A698CC-8867-4C43-94DD-47598C7D6FEC}" srcId="{C0FC1005-3C4C-4706-8FA8-DCB389547878}" destId="{D58852C5-4448-44D0-AE36-4420221F421B}" srcOrd="0" destOrd="0" parTransId="{4FD291F7-3885-4E0A-9412-4C36B68ACAEE}" sibTransId="{8EBBF2C5-0C0F-4322-B6B7-728B10EB12C0}"/>
    <dgm:cxn modelId="{4D6A41FC-1680-4440-A151-94EF8E47072B}" srcId="{C0FC1005-3C4C-4706-8FA8-DCB389547878}" destId="{51E16086-E927-454C-A4BE-E39706A957BC}" srcOrd="3" destOrd="0" parTransId="{59E656A3-1743-42F1-86C5-AC7A18484E25}" sibTransId="{0CB05147-B8D6-4575-8B74-B2558BD74687}"/>
    <dgm:cxn modelId="{00505FFF-F494-401E-BB46-119D7D105578}" type="presOf" srcId="{C0FC1005-3C4C-4706-8FA8-DCB389547878}" destId="{BB29789A-166D-4741-AD55-B25C5AC4F25A}" srcOrd="0" destOrd="0" presId="urn:microsoft.com/office/officeart/2005/8/layout/vList2"/>
    <dgm:cxn modelId="{D0518C12-AC69-458A-AC4E-0067EE8749C0}" type="presParOf" srcId="{BB29789A-166D-4741-AD55-B25C5AC4F25A}" destId="{FCD744F5-C7BC-481B-90D4-DF78849742D5}" srcOrd="0" destOrd="0" presId="urn:microsoft.com/office/officeart/2005/8/layout/vList2"/>
    <dgm:cxn modelId="{6E86A683-B4D6-4C75-9EBC-65AB34AFB6B2}" type="presParOf" srcId="{BB29789A-166D-4741-AD55-B25C5AC4F25A}" destId="{9C72C4EB-7AE6-41B8-8867-5C175BDA782B}" srcOrd="1" destOrd="0" presId="urn:microsoft.com/office/officeart/2005/8/layout/vList2"/>
    <dgm:cxn modelId="{B2484A97-B36B-4882-9E8D-573E1367D914}" type="presParOf" srcId="{BB29789A-166D-4741-AD55-B25C5AC4F25A}" destId="{9395465D-62F8-48F6-9A80-0A718D39EC72}" srcOrd="2" destOrd="0" presId="urn:microsoft.com/office/officeart/2005/8/layout/vList2"/>
    <dgm:cxn modelId="{D62FD8D5-04B7-42DA-93EE-D736F68DDC66}" type="presParOf" srcId="{BB29789A-166D-4741-AD55-B25C5AC4F25A}" destId="{5FE2BE66-DAF0-4697-AAD2-FB29C3598DE3}" srcOrd="3" destOrd="0" presId="urn:microsoft.com/office/officeart/2005/8/layout/vList2"/>
    <dgm:cxn modelId="{D8CC919F-BE7F-498B-838D-1565D53AFB90}" type="presParOf" srcId="{BB29789A-166D-4741-AD55-B25C5AC4F25A}" destId="{4FAA1452-5592-42AC-B1B5-766FBC9F8F57}" srcOrd="4" destOrd="0" presId="urn:microsoft.com/office/officeart/2005/8/layout/vList2"/>
    <dgm:cxn modelId="{46AA2842-5D3A-4C16-9AFF-4C44B01A8BCE}" type="presParOf" srcId="{BB29789A-166D-4741-AD55-B25C5AC4F25A}" destId="{786842FE-5B18-4668-A067-DB9F9564CA25}" srcOrd="5" destOrd="0" presId="urn:microsoft.com/office/officeart/2005/8/layout/vList2"/>
    <dgm:cxn modelId="{BEE6EE8C-EE19-4ADE-8726-54ABE9FCCE5A}" type="presParOf" srcId="{BB29789A-166D-4741-AD55-B25C5AC4F25A}" destId="{8FDC06E9-EBC8-4281-91A0-7CF05EDE8D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BEFC2-170D-462C-A390-9DC7B50EC04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2BD4A3-3BCB-40B8-889F-DBCA93CB7536}">
      <dgm:prSet/>
      <dgm:spPr/>
      <dgm:t>
        <a:bodyPr/>
        <a:lstStyle/>
        <a:p>
          <a:r>
            <a:rPr lang="en-US" b="0" i="0" baseline="0"/>
            <a:t>LinearSVC was the most consistent performer</a:t>
          </a:r>
          <a:endParaRPr lang="en-US"/>
        </a:p>
      </dgm:t>
    </dgm:pt>
    <dgm:pt modelId="{442E5EF7-6458-470E-9F41-53B5226BC239}" type="parTrans" cxnId="{74703AE2-88E7-45BA-B55B-2D16E93FD637}">
      <dgm:prSet/>
      <dgm:spPr/>
      <dgm:t>
        <a:bodyPr/>
        <a:lstStyle/>
        <a:p>
          <a:endParaRPr lang="en-US"/>
        </a:p>
      </dgm:t>
    </dgm:pt>
    <dgm:pt modelId="{2B4B76E8-B3CB-4342-AB85-7CCB1B82C4D3}" type="sibTrans" cxnId="{74703AE2-88E7-45BA-B55B-2D16E93FD637}">
      <dgm:prSet/>
      <dgm:spPr/>
      <dgm:t>
        <a:bodyPr/>
        <a:lstStyle/>
        <a:p>
          <a:endParaRPr lang="en-US"/>
        </a:p>
      </dgm:t>
    </dgm:pt>
    <dgm:pt modelId="{66792C14-456F-46B4-B9A9-ED5BA0DB04E7}">
      <dgm:prSet/>
      <dgm:spPr/>
      <dgm:t>
        <a:bodyPr/>
        <a:lstStyle/>
        <a:p>
          <a:r>
            <a:rPr lang="en-US" b="0" i="0" baseline="0"/>
            <a:t>Deep learning didn’t help much due to data limits</a:t>
          </a:r>
          <a:endParaRPr lang="en-US"/>
        </a:p>
      </dgm:t>
    </dgm:pt>
    <dgm:pt modelId="{2B69AF2C-0CA4-4F34-8CDB-38CD9D320E4C}" type="parTrans" cxnId="{9D96AB10-9675-49BE-B477-A0DC297D5334}">
      <dgm:prSet/>
      <dgm:spPr/>
      <dgm:t>
        <a:bodyPr/>
        <a:lstStyle/>
        <a:p>
          <a:endParaRPr lang="en-US"/>
        </a:p>
      </dgm:t>
    </dgm:pt>
    <dgm:pt modelId="{E35EC091-9906-4D70-B3E3-052921081684}" type="sibTrans" cxnId="{9D96AB10-9675-49BE-B477-A0DC297D5334}">
      <dgm:prSet/>
      <dgm:spPr/>
      <dgm:t>
        <a:bodyPr/>
        <a:lstStyle/>
        <a:p>
          <a:endParaRPr lang="en-US"/>
        </a:p>
      </dgm:t>
    </dgm:pt>
    <dgm:pt modelId="{783840D2-1E8E-4821-A7AD-EC64B91B5A85}">
      <dgm:prSet/>
      <dgm:spPr/>
      <dgm:t>
        <a:bodyPr/>
        <a:lstStyle/>
        <a:p>
          <a:r>
            <a:rPr lang="en-US" b="0" i="0" baseline="0"/>
            <a:t>Future work: longer training, larger dataset, RoBERTa, hyperparameter tuning</a:t>
          </a:r>
          <a:endParaRPr lang="en-US"/>
        </a:p>
      </dgm:t>
    </dgm:pt>
    <dgm:pt modelId="{8F9134C0-E1D8-4E7D-BFA8-BFB11A7FD007}" type="parTrans" cxnId="{C46A0D08-3E65-4BD4-940E-5BCA7F710E1D}">
      <dgm:prSet/>
      <dgm:spPr/>
      <dgm:t>
        <a:bodyPr/>
        <a:lstStyle/>
        <a:p>
          <a:endParaRPr lang="en-US"/>
        </a:p>
      </dgm:t>
    </dgm:pt>
    <dgm:pt modelId="{A77955B8-940D-4C2F-B314-7DA4ADF067EA}" type="sibTrans" cxnId="{C46A0D08-3E65-4BD4-940E-5BCA7F710E1D}">
      <dgm:prSet/>
      <dgm:spPr/>
      <dgm:t>
        <a:bodyPr/>
        <a:lstStyle/>
        <a:p>
          <a:endParaRPr lang="en-US"/>
        </a:p>
      </dgm:t>
    </dgm:pt>
    <dgm:pt modelId="{26A1EDB8-1C5D-4AD4-A012-544EFB945AF4}" type="pres">
      <dgm:prSet presAssocID="{52EBEFC2-170D-462C-A390-9DC7B50EC04F}" presName="root" presStyleCnt="0">
        <dgm:presLayoutVars>
          <dgm:dir/>
          <dgm:resizeHandles val="exact"/>
        </dgm:presLayoutVars>
      </dgm:prSet>
      <dgm:spPr/>
    </dgm:pt>
    <dgm:pt modelId="{109C7812-51B7-470B-9A39-BD7DE4D900BB}" type="pres">
      <dgm:prSet presAssocID="{E42BD4A3-3BCB-40B8-889F-DBCA93CB7536}" presName="compNode" presStyleCnt="0"/>
      <dgm:spPr/>
    </dgm:pt>
    <dgm:pt modelId="{F00750C5-B084-44F3-ACC5-F5685B245048}" type="pres">
      <dgm:prSet presAssocID="{E42BD4A3-3BCB-40B8-889F-DBCA93CB75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ECD52E7-44D9-4B97-BB40-89B3511ABCD3}" type="pres">
      <dgm:prSet presAssocID="{E42BD4A3-3BCB-40B8-889F-DBCA93CB7536}" presName="spaceRect" presStyleCnt="0"/>
      <dgm:spPr/>
    </dgm:pt>
    <dgm:pt modelId="{0E2D2F57-2E25-49A0-80B5-2E28410025E4}" type="pres">
      <dgm:prSet presAssocID="{E42BD4A3-3BCB-40B8-889F-DBCA93CB7536}" presName="textRect" presStyleLbl="revTx" presStyleIdx="0" presStyleCnt="3">
        <dgm:presLayoutVars>
          <dgm:chMax val="1"/>
          <dgm:chPref val="1"/>
        </dgm:presLayoutVars>
      </dgm:prSet>
      <dgm:spPr/>
    </dgm:pt>
    <dgm:pt modelId="{AB1F987E-B401-4723-8873-5BA6D5BDD639}" type="pres">
      <dgm:prSet presAssocID="{2B4B76E8-B3CB-4342-AB85-7CCB1B82C4D3}" presName="sibTrans" presStyleCnt="0"/>
      <dgm:spPr/>
    </dgm:pt>
    <dgm:pt modelId="{6C4B72D2-CFB3-4628-B84B-DC619CD94546}" type="pres">
      <dgm:prSet presAssocID="{66792C14-456F-46B4-B9A9-ED5BA0DB04E7}" presName="compNode" presStyleCnt="0"/>
      <dgm:spPr/>
    </dgm:pt>
    <dgm:pt modelId="{3D1636BC-59D5-476D-81CA-5BF835B6814E}" type="pres">
      <dgm:prSet presAssocID="{66792C14-456F-46B4-B9A9-ED5BA0DB04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14E2FA-F5C9-46BC-A6AD-663BDEB79C16}" type="pres">
      <dgm:prSet presAssocID="{66792C14-456F-46B4-B9A9-ED5BA0DB04E7}" presName="spaceRect" presStyleCnt="0"/>
      <dgm:spPr/>
    </dgm:pt>
    <dgm:pt modelId="{78B88D42-5EE6-4BF2-AFCD-B7531E27500F}" type="pres">
      <dgm:prSet presAssocID="{66792C14-456F-46B4-B9A9-ED5BA0DB04E7}" presName="textRect" presStyleLbl="revTx" presStyleIdx="1" presStyleCnt="3">
        <dgm:presLayoutVars>
          <dgm:chMax val="1"/>
          <dgm:chPref val="1"/>
        </dgm:presLayoutVars>
      </dgm:prSet>
      <dgm:spPr/>
    </dgm:pt>
    <dgm:pt modelId="{68A6E675-3761-4E27-BE21-9A5EC361F77C}" type="pres">
      <dgm:prSet presAssocID="{E35EC091-9906-4D70-B3E3-052921081684}" presName="sibTrans" presStyleCnt="0"/>
      <dgm:spPr/>
    </dgm:pt>
    <dgm:pt modelId="{827A7A39-9275-4D34-B4AA-71E8A118DECD}" type="pres">
      <dgm:prSet presAssocID="{783840D2-1E8E-4821-A7AD-EC64B91B5A85}" presName="compNode" presStyleCnt="0"/>
      <dgm:spPr/>
    </dgm:pt>
    <dgm:pt modelId="{CF67EC0F-2592-4D50-8B57-8845AEAE115A}" type="pres">
      <dgm:prSet presAssocID="{783840D2-1E8E-4821-A7AD-EC64B91B5A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81366BE-5864-4722-9714-5B4C8B0D1983}" type="pres">
      <dgm:prSet presAssocID="{783840D2-1E8E-4821-A7AD-EC64B91B5A85}" presName="spaceRect" presStyleCnt="0"/>
      <dgm:spPr/>
    </dgm:pt>
    <dgm:pt modelId="{D9870E26-5EE9-4BFA-956B-6145DC05D60B}" type="pres">
      <dgm:prSet presAssocID="{783840D2-1E8E-4821-A7AD-EC64B91B5A8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46A0D08-3E65-4BD4-940E-5BCA7F710E1D}" srcId="{52EBEFC2-170D-462C-A390-9DC7B50EC04F}" destId="{783840D2-1E8E-4821-A7AD-EC64B91B5A85}" srcOrd="2" destOrd="0" parTransId="{8F9134C0-E1D8-4E7D-BFA8-BFB11A7FD007}" sibTransId="{A77955B8-940D-4C2F-B314-7DA4ADF067EA}"/>
    <dgm:cxn modelId="{9D96AB10-9675-49BE-B477-A0DC297D5334}" srcId="{52EBEFC2-170D-462C-A390-9DC7B50EC04F}" destId="{66792C14-456F-46B4-B9A9-ED5BA0DB04E7}" srcOrd="1" destOrd="0" parTransId="{2B69AF2C-0CA4-4F34-8CDB-38CD9D320E4C}" sibTransId="{E35EC091-9906-4D70-B3E3-052921081684}"/>
    <dgm:cxn modelId="{32408B96-BFF6-44C8-838A-8FA7A02DAB5C}" type="presOf" srcId="{52EBEFC2-170D-462C-A390-9DC7B50EC04F}" destId="{26A1EDB8-1C5D-4AD4-A012-544EFB945AF4}" srcOrd="0" destOrd="0" presId="urn:microsoft.com/office/officeart/2018/2/layout/IconLabelList"/>
    <dgm:cxn modelId="{2ED570BF-0370-4BDF-9AA3-FDD1085C8677}" type="presOf" srcId="{66792C14-456F-46B4-B9A9-ED5BA0DB04E7}" destId="{78B88D42-5EE6-4BF2-AFCD-B7531E27500F}" srcOrd="0" destOrd="0" presId="urn:microsoft.com/office/officeart/2018/2/layout/IconLabelList"/>
    <dgm:cxn modelId="{415E3DD8-7480-4A68-8F16-6AA2A27AC9CA}" type="presOf" srcId="{783840D2-1E8E-4821-A7AD-EC64B91B5A85}" destId="{D9870E26-5EE9-4BFA-956B-6145DC05D60B}" srcOrd="0" destOrd="0" presId="urn:microsoft.com/office/officeart/2018/2/layout/IconLabelList"/>
    <dgm:cxn modelId="{74703AE2-88E7-45BA-B55B-2D16E93FD637}" srcId="{52EBEFC2-170D-462C-A390-9DC7B50EC04F}" destId="{E42BD4A3-3BCB-40B8-889F-DBCA93CB7536}" srcOrd="0" destOrd="0" parTransId="{442E5EF7-6458-470E-9F41-53B5226BC239}" sibTransId="{2B4B76E8-B3CB-4342-AB85-7CCB1B82C4D3}"/>
    <dgm:cxn modelId="{794A66EA-BAF7-4184-8CD0-64E93E0B0045}" type="presOf" srcId="{E42BD4A3-3BCB-40B8-889F-DBCA93CB7536}" destId="{0E2D2F57-2E25-49A0-80B5-2E28410025E4}" srcOrd="0" destOrd="0" presId="urn:microsoft.com/office/officeart/2018/2/layout/IconLabelList"/>
    <dgm:cxn modelId="{B8D27A10-198C-4804-97B9-DE59495C8543}" type="presParOf" srcId="{26A1EDB8-1C5D-4AD4-A012-544EFB945AF4}" destId="{109C7812-51B7-470B-9A39-BD7DE4D900BB}" srcOrd="0" destOrd="0" presId="urn:microsoft.com/office/officeart/2018/2/layout/IconLabelList"/>
    <dgm:cxn modelId="{F029D507-C082-49A9-8DE8-2513EF85DED7}" type="presParOf" srcId="{109C7812-51B7-470B-9A39-BD7DE4D900BB}" destId="{F00750C5-B084-44F3-ACC5-F5685B245048}" srcOrd="0" destOrd="0" presId="urn:microsoft.com/office/officeart/2018/2/layout/IconLabelList"/>
    <dgm:cxn modelId="{139484EE-7DF9-4FB0-A6C4-FA4CB3F2C4EF}" type="presParOf" srcId="{109C7812-51B7-470B-9A39-BD7DE4D900BB}" destId="{5ECD52E7-44D9-4B97-BB40-89B3511ABCD3}" srcOrd="1" destOrd="0" presId="urn:microsoft.com/office/officeart/2018/2/layout/IconLabelList"/>
    <dgm:cxn modelId="{BB9C3196-1B2A-4D3F-A562-A365F1CD8A1E}" type="presParOf" srcId="{109C7812-51B7-470B-9A39-BD7DE4D900BB}" destId="{0E2D2F57-2E25-49A0-80B5-2E28410025E4}" srcOrd="2" destOrd="0" presId="urn:microsoft.com/office/officeart/2018/2/layout/IconLabelList"/>
    <dgm:cxn modelId="{8F715678-611B-48E6-803F-B4C034B54AEC}" type="presParOf" srcId="{26A1EDB8-1C5D-4AD4-A012-544EFB945AF4}" destId="{AB1F987E-B401-4723-8873-5BA6D5BDD639}" srcOrd="1" destOrd="0" presId="urn:microsoft.com/office/officeart/2018/2/layout/IconLabelList"/>
    <dgm:cxn modelId="{C503F207-D78F-4E1E-A839-46B1628F6018}" type="presParOf" srcId="{26A1EDB8-1C5D-4AD4-A012-544EFB945AF4}" destId="{6C4B72D2-CFB3-4628-B84B-DC619CD94546}" srcOrd="2" destOrd="0" presId="urn:microsoft.com/office/officeart/2018/2/layout/IconLabelList"/>
    <dgm:cxn modelId="{42B5FB77-F9FE-4281-929A-5F4C6D38B59C}" type="presParOf" srcId="{6C4B72D2-CFB3-4628-B84B-DC619CD94546}" destId="{3D1636BC-59D5-476D-81CA-5BF835B6814E}" srcOrd="0" destOrd="0" presId="urn:microsoft.com/office/officeart/2018/2/layout/IconLabelList"/>
    <dgm:cxn modelId="{73C70061-BBEE-4F66-B292-E7F5D0129447}" type="presParOf" srcId="{6C4B72D2-CFB3-4628-B84B-DC619CD94546}" destId="{3014E2FA-F5C9-46BC-A6AD-663BDEB79C16}" srcOrd="1" destOrd="0" presId="urn:microsoft.com/office/officeart/2018/2/layout/IconLabelList"/>
    <dgm:cxn modelId="{311D99C6-83AC-4825-949C-8DA3B798A725}" type="presParOf" srcId="{6C4B72D2-CFB3-4628-B84B-DC619CD94546}" destId="{78B88D42-5EE6-4BF2-AFCD-B7531E27500F}" srcOrd="2" destOrd="0" presId="urn:microsoft.com/office/officeart/2018/2/layout/IconLabelList"/>
    <dgm:cxn modelId="{40DCAEE4-DBBC-4AEF-88DD-257214ED2F0A}" type="presParOf" srcId="{26A1EDB8-1C5D-4AD4-A012-544EFB945AF4}" destId="{68A6E675-3761-4E27-BE21-9A5EC361F77C}" srcOrd="3" destOrd="0" presId="urn:microsoft.com/office/officeart/2018/2/layout/IconLabelList"/>
    <dgm:cxn modelId="{00DE2E43-2B9A-48A3-9948-84FCE622E33C}" type="presParOf" srcId="{26A1EDB8-1C5D-4AD4-A012-544EFB945AF4}" destId="{827A7A39-9275-4D34-B4AA-71E8A118DECD}" srcOrd="4" destOrd="0" presId="urn:microsoft.com/office/officeart/2018/2/layout/IconLabelList"/>
    <dgm:cxn modelId="{687B1578-E999-4870-94EB-ECBDADDB942B}" type="presParOf" srcId="{827A7A39-9275-4D34-B4AA-71E8A118DECD}" destId="{CF67EC0F-2592-4D50-8B57-8845AEAE115A}" srcOrd="0" destOrd="0" presId="urn:microsoft.com/office/officeart/2018/2/layout/IconLabelList"/>
    <dgm:cxn modelId="{44859694-F6F4-4A30-AD77-EFA392574F24}" type="presParOf" srcId="{827A7A39-9275-4D34-B4AA-71E8A118DECD}" destId="{F81366BE-5864-4722-9714-5B4C8B0D1983}" srcOrd="1" destOrd="0" presId="urn:microsoft.com/office/officeart/2018/2/layout/IconLabelList"/>
    <dgm:cxn modelId="{B2D5A487-21FB-4960-BFF1-0ECE71CB48A1}" type="presParOf" srcId="{827A7A39-9275-4D34-B4AA-71E8A118DECD}" destId="{D9870E26-5EE9-4BFA-956B-6145DC05D60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9CB287-C9EC-469D-9A47-DDC1370D405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6D1FE7-8851-4F33-9D98-7EA10362E0B7}">
      <dgm:prSet/>
      <dgm:spPr/>
      <dgm:t>
        <a:bodyPr/>
        <a:lstStyle/>
        <a:p>
          <a:r>
            <a:rPr lang="en-US"/>
            <a:t>List key sources (shortened format):</a:t>
          </a:r>
        </a:p>
      </dgm:t>
    </dgm:pt>
    <dgm:pt modelId="{24325CB6-CE9B-47DE-87CC-110FBC1BA134}" type="parTrans" cxnId="{9D062D55-ACEE-4901-BB4F-71F4390C4BF2}">
      <dgm:prSet/>
      <dgm:spPr/>
      <dgm:t>
        <a:bodyPr/>
        <a:lstStyle/>
        <a:p>
          <a:endParaRPr lang="en-US"/>
        </a:p>
      </dgm:t>
    </dgm:pt>
    <dgm:pt modelId="{A2625DB6-EF46-4F19-96BC-1EF3DBF7515F}" type="sibTrans" cxnId="{9D062D55-ACEE-4901-BB4F-71F4390C4BF2}">
      <dgm:prSet/>
      <dgm:spPr/>
      <dgm:t>
        <a:bodyPr/>
        <a:lstStyle/>
        <a:p>
          <a:endParaRPr lang="en-US"/>
        </a:p>
      </dgm:t>
    </dgm:pt>
    <dgm:pt modelId="{25C720DE-056A-4650-9755-3C7A4B6D06D9}">
      <dgm:prSet/>
      <dgm:spPr/>
      <dgm:t>
        <a:bodyPr/>
        <a:lstStyle/>
        <a:p>
          <a:r>
            <a:rPr lang="en-US"/>
            <a:t>IMDb Dataset (Kaggle, 2018)</a:t>
          </a:r>
        </a:p>
      </dgm:t>
    </dgm:pt>
    <dgm:pt modelId="{27B6EB59-F027-4B60-9CB9-C6B259837401}" type="parTrans" cxnId="{D04F2F6A-2D0B-4FCC-BAC1-418E7A5BC280}">
      <dgm:prSet/>
      <dgm:spPr/>
      <dgm:t>
        <a:bodyPr/>
        <a:lstStyle/>
        <a:p>
          <a:endParaRPr lang="en-US"/>
        </a:p>
      </dgm:t>
    </dgm:pt>
    <dgm:pt modelId="{862E5471-9E7B-4B40-8CE4-5D4B9B0536D6}" type="sibTrans" cxnId="{D04F2F6A-2D0B-4FCC-BAC1-418E7A5BC280}">
      <dgm:prSet/>
      <dgm:spPr/>
      <dgm:t>
        <a:bodyPr/>
        <a:lstStyle/>
        <a:p>
          <a:endParaRPr lang="en-US"/>
        </a:p>
      </dgm:t>
    </dgm:pt>
    <dgm:pt modelId="{B9476A41-1599-440D-8D2C-B56F1445D053}">
      <dgm:prSet/>
      <dgm:spPr/>
      <dgm:t>
        <a:bodyPr/>
        <a:lstStyle/>
        <a:p>
          <a:r>
            <a:rPr lang="en-US"/>
            <a:t>Devlin et al., BERT (2019)</a:t>
          </a:r>
        </a:p>
      </dgm:t>
    </dgm:pt>
    <dgm:pt modelId="{0C54BD93-46C5-44D0-AC7A-E0E4D7AED4E7}" type="parTrans" cxnId="{C39DCBC9-F8DA-4D62-A9B3-C2648C77E6BA}">
      <dgm:prSet/>
      <dgm:spPr/>
      <dgm:t>
        <a:bodyPr/>
        <a:lstStyle/>
        <a:p>
          <a:endParaRPr lang="en-US"/>
        </a:p>
      </dgm:t>
    </dgm:pt>
    <dgm:pt modelId="{780F7CB4-8957-4B39-872C-9050F4868C49}" type="sibTrans" cxnId="{C39DCBC9-F8DA-4D62-A9B3-C2648C77E6BA}">
      <dgm:prSet/>
      <dgm:spPr/>
      <dgm:t>
        <a:bodyPr/>
        <a:lstStyle/>
        <a:p>
          <a:endParaRPr lang="en-US"/>
        </a:p>
      </dgm:t>
    </dgm:pt>
    <dgm:pt modelId="{CBE4666B-7CB0-454F-BCE5-5F1F38873D01}">
      <dgm:prSet/>
      <dgm:spPr/>
      <dgm:t>
        <a:bodyPr/>
        <a:lstStyle/>
        <a:p>
          <a:r>
            <a:rPr lang="en-US"/>
            <a:t>Ramos, TF-IDF (2003)</a:t>
          </a:r>
        </a:p>
      </dgm:t>
    </dgm:pt>
    <dgm:pt modelId="{4746A910-87A6-4465-8BCF-4269B6D87D6E}" type="parTrans" cxnId="{08145E29-1641-4DFD-AABC-C2D146C26A9D}">
      <dgm:prSet/>
      <dgm:spPr/>
      <dgm:t>
        <a:bodyPr/>
        <a:lstStyle/>
        <a:p>
          <a:endParaRPr lang="en-US"/>
        </a:p>
      </dgm:t>
    </dgm:pt>
    <dgm:pt modelId="{A23FBF9C-2233-4576-A1E5-FC60DB46F635}" type="sibTrans" cxnId="{08145E29-1641-4DFD-AABC-C2D146C26A9D}">
      <dgm:prSet/>
      <dgm:spPr/>
      <dgm:t>
        <a:bodyPr/>
        <a:lstStyle/>
        <a:p>
          <a:endParaRPr lang="en-US"/>
        </a:p>
      </dgm:t>
    </dgm:pt>
    <dgm:pt modelId="{6518D37E-31C7-4EE1-86B4-D85DB8E8AF57}">
      <dgm:prSet/>
      <dgm:spPr/>
      <dgm:t>
        <a:bodyPr/>
        <a:lstStyle/>
        <a:p>
          <a:r>
            <a:rPr lang="en-US"/>
            <a:t>Scikit-learn, Hugging Face, Keras, TensorFlow</a:t>
          </a:r>
        </a:p>
      </dgm:t>
    </dgm:pt>
    <dgm:pt modelId="{B0835A2B-286A-41FF-B9A2-613E06F93789}" type="parTrans" cxnId="{EE81DCF2-4B15-416C-9309-F38FB3514D53}">
      <dgm:prSet/>
      <dgm:spPr/>
      <dgm:t>
        <a:bodyPr/>
        <a:lstStyle/>
        <a:p>
          <a:endParaRPr lang="en-US"/>
        </a:p>
      </dgm:t>
    </dgm:pt>
    <dgm:pt modelId="{8B6F736C-896B-4E59-A39F-DE81D45D8EF1}" type="sibTrans" cxnId="{EE81DCF2-4B15-416C-9309-F38FB3514D53}">
      <dgm:prSet/>
      <dgm:spPr/>
      <dgm:t>
        <a:bodyPr/>
        <a:lstStyle/>
        <a:p>
          <a:endParaRPr lang="en-US"/>
        </a:p>
      </dgm:t>
    </dgm:pt>
    <dgm:pt modelId="{BD83E993-51D9-489F-B66F-F37D22E6E17E}" type="pres">
      <dgm:prSet presAssocID="{EE9CB287-C9EC-469D-9A47-DDC1370D4056}" presName="vert0" presStyleCnt="0">
        <dgm:presLayoutVars>
          <dgm:dir/>
          <dgm:animOne val="branch"/>
          <dgm:animLvl val="lvl"/>
        </dgm:presLayoutVars>
      </dgm:prSet>
      <dgm:spPr/>
    </dgm:pt>
    <dgm:pt modelId="{CBEBB0ED-BE87-4122-845E-282C8BC2549B}" type="pres">
      <dgm:prSet presAssocID="{716D1FE7-8851-4F33-9D98-7EA10362E0B7}" presName="thickLine" presStyleLbl="alignNode1" presStyleIdx="0" presStyleCnt="5"/>
      <dgm:spPr/>
    </dgm:pt>
    <dgm:pt modelId="{14299323-F69C-4578-BD8E-FEC1812B2264}" type="pres">
      <dgm:prSet presAssocID="{716D1FE7-8851-4F33-9D98-7EA10362E0B7}" presName="horz1" presStyleCnt="0"/>
      <dgm:spPr/>
    </dgm:pt>
    <dgm:pt modelId="{557587BA-9E25-42CF-B611-D46300DE8D60}" type="pres">
      <dgm:prSet presAssocID="{716D1FE7-8851-4F33-9D98-7EA10362E0B7}" presName="tx1" presStyleLbl="revTx" presStyleIdx="0" presStyleCnt="5"/>
      <dgm:spPr/>
    </dgm:pt>
    <dgm:pt modelId="{2B5F5D8D-089D-40D4-95E9-EC458490423C}" type="pres">
      <dgm:prSet presAssocID="{716D1FE7-8851-4F33-9D98-7EA10362E0B7}" presName="vert1" presStyleCnt="0"/>
      <dgm:spPr/>
    </dgm:pt>
    <dgm:pt modelId="{D8AF3081-6283-4386-97D2-79CD77DAAE49}" type="pres">
      <dgm:prSet presAssocID="{25C720DE-056A-4650-9755-3C7A4B6D06D9}" presName="thickLine" presStyleLbl="alignNode1" presStyleIdx="1" presStyleCnt="5"/>
      <dgm:spPr/>
    </dgm:pt>
    <dgm:pt modelId="{8DA4538B-8D86-4684-8DC5-EDA543C4F314}" type="pres">
      <dgm:prSet presAssocID="{25C720DE-056A-4650-9755-3C7A4B6D06D9}" presName="horz1" presStyleCnt="0"/>
      <dgm:spPr/>
    </dgm:pt>
    <dgm:pt modelId="{7C136C46-1DA2-4653-B2EB-AA70743F6084}" type="pres">
      <dgm:prSet presAssocID="{25C720DE-056A-4650-9755-3C7A4B6D06D9}" presName="tx1" presStyleLbl="revTx" presStyleIdx="1" presStyleCnt="5"/>
      <dgm:spPr/>
    </dgm:pt>
    <dgm:pt modelId="{51F309BF-14D7-421F-910A-FF5102FFBAE1}" type="pres">
      <dgm:prSet presAssocID="{25C720DE-056A-4650-9755-3C7A4B6D06D9}" presName="vert1" presStyleCnt="0"/>
      <dgm:spPr/>
    </dgm:pt>
    <dgm:pt modelId="{6C695807-4B89-4C11-8D52-D7C8806B13DA}" type="pres">
      <dgm:prSet presAssocID="{B9476A41-1599-440D-8D2C-B56F1445D053}" presName="thickLine" presStyleLbl="alignNode1" presStyleIdx="2" presStyleCnt="5"/>
      <dgm:spPr/>
    </dgm:pt>
    <dgm:pt modelId="{94CE940C-3D04-4D0D-B6AB-A5A54B22075A}" type="pres">
      <dgm:prSet presAssocID="{B9476A41-1599-440D-8D2C-B56F1445D053}" presName="horz1" presStyleCnt="0"/>
      <dgm:spPr/>
    </dgm:pt>
    <dgm:pt modelId="{4613711F-39C9-456E-854C-FE2A99824D94}" type="pres">
      <dgm:prSet presAssocID="{B9476A41-1599-440D-8D2C-B56F1445D053}" presName="tx1" presStyleLbl="revTx" presStyleIdx="2" presStyleCnt="5"/>
      <dgm:spPr/>
    </dgm:pt>
    <dgm:pt modelId="{A4038CEA-0918-4455-9BA4-CB688C8B8057}" type="pres">
      <dgm:prSet presAssocID="{B9476A41-1599-440D-8D2C-B56F1445D053}" presName="vert1" presStyleCnt="0"/>
      <dgm:spPr/>
    </dgm:pt>
    <dgm:pt modelId="{EB8A6F40-AF13-48EC-97D5-96718DBF5997}" type="pres">
      <dgm:prSet presAssocID="{CBE4666B-7CB0-454F-BCE5-5F1F38873D01}" presName="thickLine" presStyleLbl="alignNode1" presStyleIdx="3" presStyleCnt="5"/>
      <dgm:spPr/>
    </dgm:pt>
    <dgm:pt modelId="{2D64E681-3BCA-4E03-A1F9-859DF76D8D5D}" type="pres">
      <dgm:prSet presAssocID="{CBE4666B-7CB0-454F-BCE5-5F1F38873D01}" presName="horz1" presStyleCnt="0"/>
      <dgm:spPr/>
    </dgm:pt>
    <dgm:pt modelId="{FA6404FB-3ED3-4F80-BC2D-560D5FBDE89B}" type="pres">
      <dgm:prSet presAssocID="{CBE4666B-7CB0-454F-BCE5-5F1F38873D01}" presName="tx1" presStyleLbl="revTx" presStyleIdx="3" presStyleCnt="5"/>
      <dgm:spPr/>
    </dgm:pt>
    <dgm:pt modelId="{EF83AA26-C9AA-4EBE-9EAF-286EE85B2ABF}" type="pres">
      <dgm:prSet presAssocID="{CBE4666B-7CB0-454F-BCE5-5F1F38873D01}" presName="vert1" presStyleCnt="0"/>
      <dgm:spPr/>
    </dgm:pt>
    <dgm:pt modelId="{746760FB-6C41-4750-857E-DB38CAB2C2AF}" type="pres">
      <dgm:prSet presAssocID="{6518D37E-31C7-4EE1-86B4-D85DB8E8AF57}" presName="thickLine" presStyleLbl="alignNode1" presStyleIdx="4" presStyleCnt="5"/>
      <dgm:spPr/>
    </dgm:pt>
    <dgm:pt modelId="{4FBDA2EE-2801-4A9F-88CF-58C5365621EA}" type="pres">
      <dgm:prSet presAssocID="{6518D37E-31C7-4EE1-86B4-D85DB8E8AF57}" presName="horz1" presStyleCnt="0"/>
      <dgm:spPr/>
    </dgm:pt>
    <dgm:pt modelId="{97355C35-D98F-4B1E-A7A5-F23FCFBCD0C2}" type="pres">
      <dgm:prSet presAssocID="{6518D37E-31C7-4EE1-86B4-D85DB8E8AF57}" presName="tx1" presStyleLbl="revTx" presStyleIdx="4" presStyleCnt="5"/>
      <dgm:spPr/>
    </dgm:pt>
    <dgm:pt modelId="{C8388CA4-1991-4706-BC60-A4A8D878B0C9}" type="pres">
      <dgm:prSet presAssocID="{6518D37E-31C7-4EE1-86B4-D85DB8E8AF57}" presName="vert1" presStyleCnt="0"/>
      <dgm:spPr/>
    </dgm:pt>
  </dgm:ptLst>
  <dgm:cxnLst>
    <dgm:cxn modelId="{08145E29-1641-4DFD-AABC-C2D146C26A9D}" srcId="{EE9CB287-C9EC-469D-9A47-DDC1370D4056}" destId="{CBE4666B-7CB0-454F-BCE5-5F1F38873D01}" srcOrd="3" destOrd="0" parTransId="{4746A910-87A6-4465-8BCF-4269B6D87D6E}" sibTransId="{A23FBF9C-2233-4576-A1E5-FC60DB46F635}"/>
    <dgm:cxn modelId="{07618832-96DC-463B-B116-5658202E5D63}" type="presOf" srcId="{CBE4666B-7CB0-454F-BCE5-5F1F38873D01}" destId="{FA6404FB-3ED3-4F80-BC2D-560D5FBDE89B}" srcOrd="0" destOrd="0" presId="urn:microsoft.com/office/officeart/2008/layout/LinedList"/>
    <dgm:cxn modelId="{111DDD35-8694-4086-A001-56815EAA9CF9}" type="presOf" srcId="{B9476A41-1599-440D-8D2C-B56F1445D053}" destId="{4613711F-39C9-456E-854C-FE2A99824D94}" srcOrd="0" destOrd="0" presId="urn:microsoft.com/office/officeart/2008/layout/LinedList"/>
    <dgm:cxn modelId="{D04F2F6A-2D0B-4FCC-BAC1-418E7A5BC280}" srcId="{EE9CB287-C9EC-469D-9A47-DDC1370D4056}" destId="{25C720DE-056A-4650-9755-3C7A4B6D06D9}" srcOrd="1" destOrd="0" parTransId="{27B6EB59-F027-4B60-9CB9-C6B259837401}" sibTransId="{862E5471-9E7B-4B40-8CE4-5D4B9B0536D6}"/>
    <dgm:cxn modelId="{9D062D55-ACEE-4901-BB4F-71F4390C4BF2}" srcId="{EE9CB287-C9EC-469D-9A47-DDC1370D4056}" destId="{716D1FE7-8851-4F33-9D98-7EA10362E0B7}" srcOrd="0" destOrd="0" parTransId="{24325CB6-CE9B-47DE-87CC-110FBC1BA134}" sibTransId="{A2625DB6-EF46-4F19-96BC-1EF3DBF7515F}"/>
    <dgm:cxn modelId="{EE5E4758-7166-4848-B60E-83F1E48A0CEF}" type="presOf" srcId="{EE9CB287-C9EC-469D-9A47-DDC1370D4056}" destId="{BD83E993-51D9-489F-B66F-F37D22E6E17E}" srcOrd="0" destOrd="0" presId="urn:microsoft.com/office/officeart/2008/layout/LinedList"/>
    <dgm:cxn modelId="{39B240C6-9320-40E9-848F-6F22971FF874}" type="presOf" srcId="{6518D37E-31C7-4EE1-86B4-D85DB8E8AF57}" destId="{97355C35-D98F-4B1E-A7A5-F23FCFBCD0C2}" srcOrd="0" destOrd="0" presId="urn:microsoft.com/office/officeart/2008/layout/LinedList"/>
    <dgm:cxn modelId="{C39DCBC9-F8DA-4D62-A9B3-C2648C77E6BA}" srcId="{EE9CB287-C9EC-469D-9A47-DDC1370D4056}" destId="{B9476A41-1599-440D-8D2C-B56F1445D053}" srcOrd="2" destOrd="0" parTransId="{0C54BD93-46C5-44D0-AC7A-E0E4D7AED4E7}" sibTransId="{780F7CB4-8957-4B39-872C-9050F4868C49}"/>
    <dgm:cxn modelId="{14AE8DD8-9025-44EB-906F-4528EA55202A}" type="presOf" srcId="{716D1FE7-8851-4F33-9D98-7EA10362E0B7}" destId="{557587BA-9E25-42CF-B611-D46300DE8D60}" srcOrd="0" destOrd="0" presId="urn:microsoft.com/office/officeart/2008/layout/LinedList"/>
    <dgm:cxn modelId="{EE81DCF2-4B15-416C-9309-F38FB3514D53}" srcId="{EE9CB287-C9EC-469D-9A47-DDC1370D4056}" destId="{6518D37E-31C7-4EE1-86B4-D85DB8E8AF57}" srcOrd="4" destOrd="0" parTransId="{B0835A2B-286A-41FF-B9A2-613E06F93789}" sibTransId="{8B6F736C-896B-4E59-A39F-DE81D45D8EF1}"/>
    <dgm:cxn modelId="{261FD2FA-B697-41F1-AEA5-AE38775EC4E5}" type="presOf" srcId="{25C720DE-056A-4650-9755-3C7A4B6D06D9}" destId="{7C136C46-1DA2-4653-B2EB-AA70743F6084}" srcOrd="0" destOrd="0" presId="urn:microsoft.com/office/officeart/2008/layout/LinedList"/>
    <dgm:cxn modelId="{2B0F7D42-B6C9-456D-89DD-FFBB2FCDFAF0}" type="presParOf" srcId="{BD83E993-51D9-489F-B66F-F37D22E6E17E}" destId="{CBEBB0ED-BE87-4122-845E-282C8BC2549B}" srcOrd="0" destOrd="0" presId="urn:microsoft.com/office/officeart/2008/layout/LinedList"/>
    <dgm:cxn modelId="{D262DD57-7F63-4917-AC0B-33FAE65647F3}" type="presParOf" srcId="{BD83E993-51D9-489F-B66F-F37D22E6E17E}" destId="{14299323-F69C-4578-BD8E-FEC1812B2264}" srcOrd="1" destOrd="0" presId="urn:microsoft.com/office/officeart/2008/layout/LinedList"/>
    <dgm:cxn modelId="{1DD04595-CD64-4A6D-BF45-469822AC4E56}" type="presParOf" srcId="{14299323-F69C-4578-BD8E-FEC1812B2264}" destId="{557587BA-9E25-42CF-B611-D46300DE8D60}" srcOrd="0" destOrd="0" presId="urn:microsoft.com/office/officeart/2008/layout/LinedList"/>
    <dgm:cxn modelId="{C065B879-938A-4D20-90E9-6207FD335380}" type="presParOf" srcId="{14299323-F69C-4578-BD8E-FEC1812B2264}" destId="{2B5F5D8D-089D-40D4-95E9-EC458490423C}" srcOrd="1" destOrd="0" presId="urn:microsoft.com/office/officeart/2008/layout/LinedList"/>
    <dgm:cxn modelId="{52C77C97-FBFC-42AC-8615-8A4CE962753C}" type="presParOf" srcId="{BD83E993-51D9-489F-B66F-F37D22E6E17E}" destId="{D8AF3081-6283-4386-97D2-79CD77DAAE49}" srcOrd="2" destOrd="0" presId="urn:microsoft.com/office/officeart/2008/layout/LinedList"/>
    <dgm:cxn modelId="{BB12447C-8003-42C6-82F3-3B8E90856692}" type="presParOf" srcId="{BD83E993-51D9-489F-B66F-F37D22E6E17E}" destId="{8DA4538B-8D86-4684-8DC5-EDA543C4F314}" srcOrd="3" destOrd="0" presId="urn:microsoft.com/office/officeart/2008/layout/LinedList"/>
    <dgm:cxn modelId="{CB1DEA3F-8F4C-4177-B326-A1D3E88FECCB}" type="presParOf" srcId="{8DA4538B-8D86-4684-8DC5-EDA543C4F314}" destId="{7C136C46-1DA2-4653-B2EB-AA70743F6084}" srcOrd="0" destOrd="0" presId="urn:microsoft.com/office/officeart/2008/layout/LinedList"/>
    <dgm:cxn modelId="{E5665DF9-6D06-4E6F-A3A8-B999EF7D4844}" type="presParOf" srcId="{8DA4538B-8D86-4684-8DC5-EDA543C4F314}" destId="{51F309BF-14D7-421F-910A-FF5102FFBAE1}" srcOrd="1" destOrd="0" presId="urn:microsoft.com/office/officeart/2008/layout/LinedList"/>
    <dgm:cxn modelId="{0093BADD-7BA2-4305-85C8-D3EA7CE3DA79}" type="presParOf" srcId="{BD83E993-51D9-489F-B66F-F37D22E6E17E}" destId="{6C695807-4B89-4C11-8D52-D7C8806B13DA}" srcOrd="4" destOrd="0" presId="urn:microsoft.com/office/officeart/2008/layout/LinedList"/>
    <dgm:cxn modelId="{B48E5871-324D-4236-8670-2EBF2E83FF99}" type="presParOf" srcId="{BD83E993-51D9-489F-B66F-F37D22E6E17E}" destId="{94CE940C-3D04-4D0D-B6AB-A5A54B22075A}" srcOrd="5" destOrd="0" presId="urn:microsoft.com/office/officeart/2008/layout/LinedList"/>
    <dgm:cxn modelId="{CC77B647-618E-42AA-9D34-E80818D0EE61}" type="presParOf" srcId="{94CE940C-3D04-4D0D-B6AB-A5A54B22075A}" destId="{4613711F-39C9-456E-854C-FE2A99824D94}" srcOrd="0" destOrd="0" presId="urn:microsoft.com/office/officeart/2008/layout/LinedList"/>
    <dgm:cxn modelId="{87A31311-4872-4D9A-BD7C-CEDBB78B2E1E}" type="presParOf" srcId="{94CE940C-3D04-4D0D-B6AB-A5A54B22075A}" destId="{A4038CEA-0918-4455-9BA4-CB688C8B8057}" srcOrd="1" destOrd="0" presId="urn:microsoft.com/office/officeart/2008/layout/LinedList"/>
    <dgm:cxn modelId="{0C803660-B37B-402F-ACDC-3A7E2B74C291}" type="presParOf" srcId="{BD83E993-51D9-489F-B66F-F37D22E6E17E}" destId="{EB8A6F40-AF13-48EC-97D5-96718DBF5997}" srcOrd="6" destOrd="0" presId="urn:microsoft.com/office/officeart/2008/layout/LinedList"/>
    <dgm:cxn modelId="{5FD888AD-6A2E-42C6-8120-D0EB76ECFDF4}" type="presParOf" srcId="{BD83E993-51D9-489F-B66F-F37D22E6E17E}" destId="{2D64E681-3BCA-4E03-A1F9-859DF76D8D5D}" srcOrd="7" destOrd="0" presId="urn:microsoft.com/office/officeart/2008/layout/LinedList"/>
    <dgm:cxn modelId="{36985219-EC32-4A0B-92B4-2567242432C3}" type="presParOf" srcId="{2D64E681-3BCA-4E03-A1F9-859DF76D8D5D}" destId="{FA6404FB-3ED3-4F80-BC2D-560D5FBDE89B}" srcOrd="0" destOrd="0" presId="urn:microsoft.com/office/officeart/2008/layout/LinedList"/>
    <dgm:cxn modelId="{7940E99C-3EB7-4314-A00D-AFF92DDAF42E}" type="presParOf" srcId="{2D64E681-3BCA-4E03-A1F9-859DF76D8D5D}" destId="{EF83AA26-C9AA-4EBE-9EAF-286EE85B2ABF}" srcOrd="1" destOrd="0" presId="urn:microsoft.com/office/officeart/2008/layout/LinedList"/>
    <dgm:cxn modelId="{77A96CC9-38D8-4F69-95EE-C5E0AA4A1898}" type="presParOf" srcId="{BD83E993-51D9-489F-B66F-F37D22E6E17E}" destId="{746760FB-6C41-4750-857E-DB38CAB2C2AF}" srcOrd="8" destOrd="0" presId="urn:microsoft.com/office/officeart/2008/layout/LinedList"/>
    <dgm:cxn modelId="{374A55F6-8267-4382-ADE2-E0E745D83A19}" type="presParOf" srcId="{BD83E993-51D9-489F-B66F-F37D22E6E17E}" destId="{4FBDA2EE-2801-4A9F-88CF-58C5365621EA}" srcOrd="9" destOrd="0" presId="urn:microsoft.com/office/officeart/2008/layout/LinedList"/>
    <dgm:cxn modelId="{3FF8D8DB-E195-4B6E-9A18-F4A357C9A82F}" type="presParOf" srcId="{4FBDA2EE-2801-4A9F-88CF-58C5365621EA}" destId="{97355C35-D98F-4B1E-A7A5-F23FCFBCD0C2}" srcOrd="0" destOrd="0" presId="urn:microsoft.com/office/officeart/2008/layout/LinedList"/>
    <dgm:cxn modelId="{B4AD85D4-E758-40F0-B6C6-F1BEDFA973AB}" type="presParOf" srcId="{4FBDA2EE-2801-4A9F-88CF-58C5365621EA}" destId="{C8388CA4-1991-4706-BC60-A4A8D878B0C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744F5-C7BC-481B-90D4-DF78849742D5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Classical ML models work well on small, cleaned data</a:t>
          </a:r>
          <a:endParaRPr lang="en-US" sz="3200" kern="1200"/>
        </a:p>
      </dsp:txBody>
      <dsp:txXfrm>
        <a:off x="62141" y="104940"/>
        <a:ext cx="6542551" cy="1148678"/>
      </dsp:txXfrm>
    </dsp:sp>
    <dsp:sp modelId="{9395465D-62F8-48F6-9A80-0A718D39EC72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LSTM needs more data and epochs</a:t>
          </a:r>
          <a:endParaRPr lang="en-US" sz="3200" kern="1200"/>
        </a:p>
      </dsp:txBody>
      <dsp:txXfrm>
        <a:off x="62141" y="1470060"/>
        <a:ext cx="6542551" cy="1148678"/>
      </dsp:txXfrm>
    </dsp:sp>
    <dsp:sp modelId="{4FAA1452-5592-42AC-B1B5-766FBC9F8F57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BERT shows potential but over-predicts one class</a:t>
          </a:r>
          <a:endParaRPr lang="en-US" sz="3200" kern="1200"/>
        </a:p>
      </dsp:txBody>
      <dsp:txXfrm>
        <a:off x="62141" y="2835181"/>
        <a:ext cx="6542551" cy="1148678"/>
      </dsp:txXfrm>
    </dsp:sp>
    <dsp:sp modelId="{8FDC06E9-EBC8-4281-91A0-7CF05EDE8DDE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Trade-offs between training time and generalization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750C5-B084-44F3-ACC5-F5685B245048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D2F57-2E25-49A0-80B5-2E28410025E4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LinearSVC was the most consistent performer</a:t>
          </a:r>
          <a:endParaRPr lang="en-US" sz="1700" kern="1200"/>
        </a:p>
      </dsp:txBody>
      <dsp:txXfrm>
        <a:off x="59990" y="2654049"/>
        <a:ext cx="3226223" cy="720000"/>
      </dsp:txXfrm>
    </dsp:sp>
    <dsp:sp modelId="{3D1636BC-59D5-476D-81CA-5BF835B6814E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88D42-5EE6-4BF2-AFCD-B7531E27500F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Deep learning didn’t help much due to data limits</a:t>
          </a:r>
          <a:endParaRPr lang="en-US" sz="1700" kern="1200"/>
        </a:p>
      </dsp:txBody>
      <dsp:txXfrm>
        <a:off x="3850802" y="2654049"/>
        <a:ext cx="3226223" cy="720000"/>
      </dsp:txXfrm>
    </dsp:sp>
    <dsp:sp modelId="{CF67EC0F-2592-4D50-8B57-8845AEAE115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70E26-5EE9-4BFA-956B-6145DC05D60B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Future work: longer training, larger dataset, RoBERTa, hyperparameter tuning</a:t>
          </a:r>
          <a:endParaRPr lang="en-US" sz="1700" kern="1200"/>
        </a:p>
      </dsp:txBody>
      <dsp:txXfrm>
        <a:off x="7641615" y="2654049"/>
        <a:ext cx="322622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BB0ED-BE87-4122-845E-282C8BC2549B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587BA-9E25-42CF-B611-D46300DE8D60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List key sources (shortened format):</a:t>
          </a:r>
        </a:p>
      </dsp:txBody>
      <dsp:txXfrm>
        <a:off x="0" y="531"/>
        <a:ext cx="10515600" cy="870055"/>
      </dsp:txXfrm>
    </dsp:sp>
    <dsp:sp modelId="{D8AF3081-6283-4386-97D2-79CD77DAAE49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36C46-1DA2-4653-B2EB-AA70743F6084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IMDb Dataset (Kaggle, 2018)</a:t>
          </a:r>
        </a:p>
      </dsp:txBody>
      <dsp:txXfrm>
        <a:off x="0" y="870586"/>
        <a:ext cx="10515600" cy="870055"/>
      </dsp:txXfrm>
    </dsp:sp>
    <dsp:sp modelId="{6C695807-4B89-4C11-8D52-D7C8806B13DA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3711F-39C9-456E-854C-FE2A99824D94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Devlin et al., BERT (2019)</a:t>
          </a:r>
        </a:p>
      </dsp:txBody>
      <dsp:txXfrm>
        <a:off x="0" y="1740641"/>
        <a:ext cx="10515600" cy="870055"/>
      </dsp:txXfrm>
    </dsp:sp>
    <dsp:sp modelId="{EB8A6F40-AF13-48EC-97D5-96718DBF5997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404FB-3ED3-4F80-BC2D-560D5FBDE89B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Ramos, TF-IDF (2003)</a:t>
          </a:r>
        </a:p>
      </dsp:txBody>
      <dsp:txXfrm>
        <a:off x="0" y="2610696"/>
        <a:ext cx="10515600" cy="870055"/>
      </dsp:txXfrm>
    </dsp:sp>
    <dsp:sp modelId="{746760FB-6C41-4750-857E-DB38CAB2C2AF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55C35-D98F-4B1E-A7A5-F23FCFBCD0C2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Scikit-learn, Hugging Face, Keras, TensorFlow</a:t>
          </a: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CC08-F6CE-C61A-9A61-9FC44D0DA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2A10E-A008-0CDD-C389-6774A362C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ED7F-D332-17D0-F891-1D79BD0C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30F9A-EC5E-98E9-88BA-0C599074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8DC28-03BE-E165-CC20-5AB1F9CC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8882-B8A8-0992-9F3E-2B249626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71B7-3B19-0308-F50E-B59FD003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7AE7D-E3D3-D683-BA99-C98B378B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8EBD3-93C7-900D-FA35-9264A13A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3F41-4CF3-1B34-9CF2-767E4CD0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7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6796-5920-BFCB-E7F6-A26C1D51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03385-EE72-DE64-49B8-3544E4FF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440A5-60B6-868A-6968-7167FDA13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CAF9-396E-DB81-4C94-3F3D25E9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5E3A-C608-0AEE-8D1B-7530037B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6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99E8-E2E3-E015-D18E-23D86348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B986F-5A3A-D120-CE0E-03C8397F3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36606-CF6F-08B3-9FA1-CF82ABC65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358D-570C-A8B1-E7FC-65951252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AB00D-02F0-EC12-9F49-7A18CB1A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4C785-F9A9-543A-37F7-A98711D1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97A9-9788-AAB9-9570-FD53A501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01A2E-8129-CD1A-31FE-FDBB8D5CA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92DB8-19AC-AE06-C5B6-1A6F421B0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FD5AB-55D6-88F5-70C8-F2742C93D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792E4-DAD9-F68F-DAB5-9C74A1CC3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0D7A9-0E19-9EEF-BDDE-FBBDC2BC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1D60C-1FD7-65F4-EA59-A6C45A78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BE71E-4518-4A75-6A43-38BB554E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6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2B3D-FE0B-AED2-19BF-2625EC11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E17B2-7D3B-7473-BEC8-7B821D6C7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EAA31-61F0-ACBD-B4DD-789CAAEAE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973C3-C898-676F-0447-359F8088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3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7CEC7-E856-D0D1-D3B8-B4D74EC1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EAFEB-8246-51CE-335A-365B5C65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2CD7-EDEF-DBFA-7BC0-61088799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7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E39A-6621-689B-F446-35034711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A80BB-9C8F-E1D8-689F-89F122AE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37A0F-097E-825F-5EAE-9872F66CE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6957C-6B1A-469C-FE1E-BEE73E12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D6DB5-5EAE-1E85-6FCF-CAB7A1C0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F8F1B-DCD4-2E37-DE7A-8636585F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4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A7F4-9B6F-AD6D-DFD6-A4F66E43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343B4-8A31-610D-30A2-50AA3803A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93DFA-35EF-BA6C-BBB4-FE9058B4A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A575-2E71-9A19-CD21-56EA1D85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B7BC2-6879-3C52-BAB6-74728097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1DC36-ABC2-5A7E-4D2E-E2DA35D8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4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7BCA-21F5-A1C0-B9B3-E96DC44A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D93F1-4E43-B640-1496-0F0280F8F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F659E-0719-6618-D262-7B88DBAF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F7A2F-D104-C2F3-11C0-5975530D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03669-EEC3-C11D-B1EE-EEA27163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3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6EFC7-CDCA-5C27-F854-321AB1E14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44158-4278-8F40-DBBF-7AAD491A2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A7629-64B9-9696-2B20-C5EF9331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BA196-5270-BCBF-B0D6-E72830BE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CB35C-9714-FD4A-2166-43B391AC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1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CDE0A-C0F3-B3A4-9596-1B97AF37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2D04-9860-8D64-AA72-BE0AAF258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1DFF0-20E4-C952-E8B4-AACE9D2DA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3BB3F-94A4-437F-B4D0-D0A3A8E08EFF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4CC0-6248-5A98-B2C1-0F8EDEB72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6A219-7E33-B843-A206-DFAC777A2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7A680-E1A3-4CDB-811A-A7948FA15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3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Digital financial graphs in 3D">
            <a:extLst>
              <a:ext uri="{FF2B5EF4-FFF2-40B4-BE49-F238E27FC236}">
                <a16:creationId xmlns:a16="http://schemas.microsoft.com/office/drawing/2014/main" id="{756DDBFC-9CC0-FB96-9658-ABE4849CC5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996" b="765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21B2D5-874B-0B82-4EF6-89723C52F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63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Evaluating Sentiment Classification Techniques on Social and Movie Review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7772C-E001-F242-B5FA-376BF4D7C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NAME : Deekshitha Chowdary Kalluri</a:t>
            </a:r>
          </a:p>
          <a:p>
            <a:pPr algn="l"/>
            <a:r>
              <a:rPr lang="en-US" sz="2000"/>
              <a:t>COURSE: CIS 732 – Machine Learning</a:t>
            </a:r>
          </a:p>
          <a:p>
            <a:pPr algn="l"/>
            <a:r>
              <a:rPr lang="en-US" sz="2000"/>
              <a:t>DATE: 5/14/2025</a:t>
            </a:r>
          </a:p>
        </p:txBody>
      </p:sp>
    </p:spTree>
    <p:extLst>
      <p:ext uri="{BB962C8B-B14F-4D97-AF65-F5344CB8AC3E}">
        <p14:creationId xmlns:p14="http://schemas.microsoft.com/office/powerpoint/2010/main" val="558535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67672-83F1-C44A-8FE2-868E3DA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 descr="Chat">
            <a:extLst>
              <a:ext uri="{FF2B5EF4-FFF2-40B4-BE49-F238E27FC236}">
                <a16:creationId xmlns:a16="http://schemas.microsoft.com/office/drawing/2014/main" id="{23D9B6E6-1BEA-C121-1D6E-A1A935A4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908E-CA00-7B34-BED2-464103472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Sentiment Analysis?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is a natural language processing task that involves determining whether a piece of text expresses a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sentiment. It is often referred to as opinion mining.</a:t>
            </a:r>
          </a:p>
          <a:p>
            <a:pPr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Helps businesses understand customer satisfaction from product or movie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real-time monitoring of public opinion on platforms like Twitter.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Automates survey or comment analysis for service improvement.</a:t>
            </a:r>
          </a:p>
          <a:p>
            <a:pPr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evaluate and compare the performance of traditional machine learning models (like Logistic Regression and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LinearSVC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modern deep learning models (LSTM and BERT) for classifying IMDb movie reviews into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sentiments.</a:t>
            </a: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B9A7A-FD48-EC15-224D-FBBCCC21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STATEMENT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B90928-556D-104E-DAA9-F661BAC42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824" b="-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7EB0-F443-232C-16BA-2F7BF7618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700" b="1"/>
              <a:t>Objective of the Project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Train and evaluate four classifiers: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Linear SVC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LSTM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BERT</a:t>
            </a:r>
          </a:p>
          <a:p>
            <a:pPr>
              <a:buNone/>
            </a:pPr>
            <a:r>
              <a:rPr lang="en-US" sz="1700" b="1"/>
              <a:t>Key Questions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Which model performs best with limited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How do deep learning and transformer models compare to ML baselines?</a:t>
            </a:r>
          </a:p>
        </p:txBody>
      </p:sp>
    </p:spTree>
    <p:extLst>
      <p:ext uri="{BB962C8B-B14F-4D97-AF65-F5344CB8AC3E}">
        <p14:creationId xmlns:p14="http://schemas.microsoft.com/office/powerpoint/2010/main" val="127495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3C627-C444-00E5-9154-E26203C9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DATASET &amp; PROCESSING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1F7E18-522D-8E4F-11A2-55683719E4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Dataset: IMDb movie reviews (500 samples)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Balanced positive/negative classes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Preprocessing steps: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HTML stripping (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Lowercasing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TF-IDF or tokenization (depending on model)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9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F0B5E-109D-2B42-C6E6-CE242A4D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09" y="502400"/>
            <a:ext cx="3367171" cy="1818064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Model 1 – Logistic Regression 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E0362B-512A-E7CC-BD12-23D6B485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"/>
          <a:stretch>
            <a:fillRect/>
          </a:stretch>
        </p:blipFill>
        <p:spPr>
          <a:xfrm>
            <a:off x="4555236" y="6"/>
            <a:ext cx="7636763" cy="27627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diagram of a logistic regression&#10;&#10;AI-generated content may be incorrect.">
            <a:extLst>
              <a:ext uri="{FF2B5EF4-FFF2-40B4-BE49-F238E27FC236}">
                <a16:creationId xmlns:a16="http://schemas.microsoft.com/office/drawing/2014/main" id="{5FF9CE62-976A-BB95-601E-3EF72C2B7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" b="3"/>
          <a:stretch>
            <a:fillRect/>
          </a:stretch>
        </p:blipFill>
        <p:spPr>
          <a:xfrm>
            <a:off x="-1" y="2826737"/>
            <a:ext cx="4565779" cy="403126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50608BD-F658-E3D5-8EFD-601D1EEAC7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49633" y="3455208"/>
            <a:ext cx="5742432" cy="23447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Trained on TF-IDF features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Accuracy: 0.79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F1 Score: 0.78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AUC-ROC: 0.87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Performed better on negative class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5823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62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D8A51-E316-E1A8-7202-BFDA0E00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09" y="502400"/>
            <a:ext cx="3367171" cy="1818064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MODEL 2- LinearSVC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5079A4-7DB3-1DC8-A86D-264A760BE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99"/>
          <a:stretch>
            <a:fillRect/>
          </a:stretch>
        </p:blipFill>
        <p:spPr>
          <a:xfrm>
            <a:off x="4555236" y="6"/>
            <a:ext cx="7636763" cy="276272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4" name="Picture 3" descr="A green squares with white text&#10;&#10;AI-generated content may be incorrect.">
            <a:extLst>
              <a:ext uri="{FF2B5EF4-FFF2-40B4-BE49-F238E27FC236}">
                <a16:creationId xmlns:a16="http://schemas.microsoft.com/office/drawing/2014/main" id="{FA838B31-4649-AA4A-F267-E0F603D96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" b="-4"/>
          <a:stretch>
            <a:fillRect/>
          </a:stretch>
        </p:blipFill>
        <p:spPr>
          <a:xfrm>
            <a:off x="-1" y="2826737"/>
            <a:ext cx="4565779" cy="403126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A9B6DFF-A643-060D-CE00-3CD36F4F9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49633" y="3455208"/>
            <a:ext cx="5742432" cy="23447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Slightly outperformed Logistic Regression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Accuracy: 0.80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F1 Score: 0.78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More balanced precision and recall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Effective on sparse, vectorized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5823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05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A05691-F36F-44DD-904C-144D68CA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graph with a line&#10;&#10;AI-generated content may be incorrect.">
            <a:extLst>
              <a:ext uri="{FF2B5EF4-FFF2-40B4-BE49-F238E27FC236}">
                <a16:creationId xmlns:a16="http://schemas.microsoft.com/office/drawing/2014/main" id="{C6014065-6AE0-475F-7CC6-A57DAB5D4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6" y="641127"/>
            <a:ext cx="2873667" cy="2227091"/>
          </a:xfrm>
          <a:prstGeom prst="rect">
            <a:avLst/>
          </a:prstGeom>
        </p:spPr>
      </p:pic>
      <p:pic>
        <p:nvPicPr>
          <p:cNvPr id="5" name="Picture 4" descr="A graph with a blue line and a red line&#10;&#10;AI-generated content may be incorrect.">
            <a:extLst>
              <a:ext uri="{FF2B5EF4-FFF2-40B4-BE49-F238E27FC236}">
                <a16:creationId xmlns:a16="http://schemas.microsoft.com/office/drawing/2014/main" id="{3B7F9577-4C50-A23A-7EA8-1A80C3219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236" y="655496"/>
            <a:ext cx="2873667" cy="219835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4AE92B-AC94-168D-AD2F-D743407AC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3228357"/>
            <a:ext cx="5989328" cy="2844931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4892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E542E-F51A-E386-ED18-2A1EC822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3516" y="978408"/>
            <a:ext cx="4056530" cy="1106424"/>
          </a:xfrm>
        </p:spPr>
        <p:txBody>
          <a:bodyPr>
            <a:normAutofit/>
          </a:bodyPr>
          <a:lstStyle/>
          <a:p>
            <a:r>
              <a:rPr lang="en-US" sz="2800"/>
              <a:t>MODEL 3- LSTM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884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2776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7406C3-D6D2-7844-9AF6-1F81C59BE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3516" y="2359152"/>
            <a:ext cx="4056530" cy="3429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Keras model with embedding + LSTM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Training accuracy: 0.69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 accuracy: 0.57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F1 Score: 0.19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Underfitted due to small dataset and 2 epochs</a:t>
            </a:r>
          </a:p>
        </p:txBody>
      </p:sp>
    </p:spTree>
    <p:extLst>
      <p:ext uri="{BB962C8B-B14F-4D97-AF65-F5344CB8AC3E}">
        <p14:creationId xmlns:p14="http://schemas.microsoft.com/office/powerpoint/2010/main" val="824675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F4E5977-D272-4E11-A03A-860268F2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CE3386-CA59-42A7-AEDE-0B76443C8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E5766-0ADF-3F12-9B5B-1923FEF9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267" y="802955"/>
            <a:ext cx="4333814" cy="1454051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MODEL 4 - BERT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296EA4B7-2E20-F23E-2DA6-16A962905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1" y="1289469"/>
            <a:ext cx="2766943" cy="1750091"/>
          </a:xfrm>
          <a:prstGeom prst="rect">
            <a:avLst/>
          </a:prstGeom>
        </p:spPr>
      </p:pic>
      <p:pic>
        <p:nvPicPr>
          <p:cNvPr id="9" name="Picture 8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FC0E5BE3-A184-73E6-C2E2-3051F3BB1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252" y="1282817"/>
            <a:ext cx="2766526" cy="175674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D8A49F-DA23-0D52-8C7B-518E8C4F3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22" y="3096843"/>
            <a:ext cx="5574656" cy="258698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C997439-062C-59C3-1754-DD334ABB94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4684" y="2421682"/>
            <a:ext cx="433346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Fine-tuned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bert-base-uncased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Train time: ~17 minutes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Accuracy: 0.68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F1 Score: 0.74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High recall for positive class, but poor balance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6C32D2-94E1-4C20-9977-69D4D1F68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847360" y="4513360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EF1C65E-19AB-4AB5-AFAE-5BE4430B1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79DC337-4663-43ED-94FF-578FCC16A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9D6286C-2480-4CBF-8601-1AEE454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16D01AE-CAAB-4E02-BFFF-211B8032C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7100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32DF175-2DD8-4694-B4BB-045DCFCE7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8612" y="633619"/>
            <a:ext cx="685246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3A524-F3F3-896B-DB3B-010EFFD3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16" y="978408"/>
            <a:ext cx="6003511" cy="1106424"/>
          </a:xfrm>
        </p:spPr>
        <p:txBody>
          <a:bodyPr>
            <a:normAutofit/>
          </a:bodyPr>
          <a:lstStyle/>
          <a:p>
            <a:r>
              <a:rPr lang="en-US" sz="2800"/>
              <a:t>METRICS USED</a:t>
            </a:r>
            <a:endParaRPr lang="en-US" sz="2800" dirty="0"/>
          </a:p>
        </p:txBody>
      </p:sp>
      <p:pic>
        <p:nvPicPr>
          <p:cNvPr id="7" name="Picture 6" descr="A graph showing a comparison between two blue squares&#10;&#10;AI-generated content may be incorrect.">
            <a:extLst>
              <a:ext uri="{FF2B5EF4-FFF2-40B4-BE49-F238E27FC236}">
                <a16:creationId xmlns:a16="http://schemas.microsoft.com/office/drawing/2014/main" id="{54F94964-E748-2C15-DA8E-C04D8B380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0" y="633619"/>
            <a:ext cx="4225912" cy="265176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604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3073" y="2121408"/>
            <a:ext cx="582472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8742A7C4-75FF-09CB-78C4-9AC6C5090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3" y="3472468"/>
            <a:ext cx="4079630" cy="265176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5CD4CDD-37E3-E0FB-77A7-D11CBF60F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6864" y="2359152"/>
            <a:ext cx="6003511" cy="3429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Correct predictions / Total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F1 Score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Balance between precision and recall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Insight into true/false positives/negatives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Bar charts shown for quick comparison</a:t>
            </a:r>
          </a:p>
        </p:txBody>
      </p:sp>
    </p:spTree>
    <p:extLst>
      <p:ext uri="{BB962C8B-B14F-4D97-AF65-F5344CB8AC3E}">
        <p14:creationId xmlns:p14="http://schemas.microsoft.com/office/powerpoint/2010/main" val="364493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40ED7B-02D7-4271-9F9D-587A8F50E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with blue squares&#10;&#10;AI-generated content may be incorrect.">
            <a:extLst>
              <a:ext uri="{FF2B5EF4-FFF2-40B4-BE49-F238E27FC236}">
                <a16:creationId xmlns:a16="http://schemas.microsoft.com/office/drawing/2014/main" id="{85DC09EA-C413-CFA7-71E0-8EB6CA5C7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7" y="766530"/>
            <a:ext cx="4114801" cy="2582037"/>
          </a:xfrm>
          <a:prstGeom prst="rect">
            <a:avLst/>
          </a:prstGeom>
        </p:spPr>
      </p:pic>
      <p:pic>
        <p:nvPicPr>
          <p:cNvPr id="6" name="Picture 5" descr="A graph with blue squares&#10;&#10;AI-generated content may be incorrect.">
            <a:extLst>
              <a:ext uri="{FF2B5EF4-FFF2-40B4-BE49-F238E27FC236}">
                <a16:creationId xmlns:a16="http://schemas.microsoft.com/office/drawing/2014/main" id="{E2A90FC1-233D-05BE-AF87-7862C1AFA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52" y="3509432"/>
            <a:ext cx="4080870" cy="266276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39E2EE-E295-4C0B-8F17-950DE238C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5358" y="0"/>
            <a:ext cx="67437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526B1-502A-2A11-FB9E-7F0220AC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091" y="685799"/>
            <a:ext cx="5304234" cy="1454712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RESULTS – ACCURACY &amp; F1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37CD2E-E3FE-9957-95FC-BA8FDB9A7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85091" y="2427383"/>
            <a:ext cx="5304234" cy="36951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Logistic Regression and LinearSVC were top performers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LSTM underperformed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BERT strong on F1, weak on accuracy</a:t>
            </a:r>
          </a:p>
        </p:txBody>
      </p:sp>
    </p:spTree>
    <p:extLst>
      <p:ext uri="{BB962C8B-B14F-4D97-AF65-F5344CB8AC3E}">
        <p14:creationId xmlns:p14="http://schemas.microsoft.com/office/powerpoint/2010/main" val="2363862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57FC5-71FA-E998-C5B8-DCC92F94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OBSERVATIONS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D895AC81-0C0C-BD85-B1BB-C9F0316F9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5687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4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B092E-0704-CA63-000F-8407754A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6C75404-9E90-5434-EC57-EEDF3C617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63262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545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31A9-7D94-F6E9-7E18-BC0689DE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EDF48F-6792-9B70-0040-143AEF1C11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899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Question mark against red wall">
            <a:extLst>
              <a:ext uri="{FF2B5EF4-FFF2-40B4-BE49-F238E27FC236}">
                <a16:creationId xmlns:a16="http://schemas.microsoft.com/office/drawing/2014/main" id="{9B2A5B57-62B1-35F5-45FC-3A848D8D5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8" r="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AC97A-A34D-7853-9104-F59ED4F8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98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490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Times New Roman</vt:lpstr>
      <vt:lpstr>Office Theme</vt:lpstr>
      <vt:lpstr>Evaluating Sentiment Classification Techniques on Social and Movie Review Data</vt:lpstr>
      <vt:lpstr>INTRODUCTION</vt:lpstr>
      <vt:lpstr>STATEMENT</vt:lpstr>
      <vt:lpstr>DATASET &amp; PROCESSING</vt:lpstr>
      <vt:lpstr>Model 1 – Logistic Regression </vt:lpstr>
      <vt:lpstr>MODEL 2- LinearSVC</vt:lpstr>
      <vt:lpstr>MODEL 3- LSTM</vt:lpstr>
      <vt:lpstr>MODEL 4 - BERT</vt:lpstr>
      <vt:lpstr>METRICS USED</vt:lpstr>
      <vt:lpstr>RESULTS – ACCURACY &amp; F1</vt:lpstr>
      <vt:lpstr>OBSERVATIONS</vt:lpstr>
      <vt:lpstr>CONCLUSION</vt:lpstr>
      <vt:lpstr>SOURCES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 Chowdary Kalluri</dc:creator>
  <cp:lastModifiedBy>Deekshitha Chowdary Kalluri</cp:lastModifiedBy>
  <cp:revision>3</cp:revision>
  <dcterms:created xsi:type="dcterms:W3CDTF">2025-05-14T18:14:32Z</dcterms:created>
  <dcterms:modified xsi:type="dcterms:W3CDTF">2025-05-14T18:25:08Z</dcterms:modified>
</cp:coreProperties>
</file>